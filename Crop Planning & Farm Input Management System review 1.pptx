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325" y="2170807"/>
            <a:ext cx="3181350" cy="323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90561" y="2723257"/>
            <a:ext cx="7010876" cy="118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1" i="0" u="none">
                <a:solidFill>
                  <a:srgbClr val="081C15"/>
                </a:solidFill>
                <a:latin typeface="Space Grotesk"/>
              </a:rPr>
              <a:t>Crop Planning &amp; Farm Input</a:t>
            </a:r>
            <a:r>
              <a:t>
</a:t>
            </a:r>
            <a:r>
              <a:rPr sz="4050" b="1" i="0" u="none">
                <a:solidFill>
                  <a:srgbClr val="2D6A4F"/>
                </a:solidFill>
                <a:latin typeface="Space Grotesk"/>
              </a:rPr>
              <a:t>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0750" y="4115692"/>
            <a:ext cx="7810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40916C"/>
                </a:solidFill>
                <a:latin typeface="Plus Jakarta Sans Medium"/>
              </a:rPr>
              <a:t>A normalized 3NF relational database architecture and data entry interface for tracking agronomic lifecycle, inputs, labour, harvest yield, and crop profitability.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825" y="2275582"/>
            <a:ext cx="147637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5240655" cy="372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B4332"/>
                </a:solidFill>
                <a:latin typeface="Space Grotesk"/>
              </a:rPr>
              <a:t>System Scope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57200"/>
            <a:ext cx="47625" cy="372367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2658963"/>
            <a:ext cx="540067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B4332"/>
                </a:solidFill>
                <a:latin typeface="Space Grotesk"/>
              </a:rPr>
              <a:t>End-to-End Farm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3116163"/>
            <a:ext cx="514350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Agricultural enterprises require granular tracking across distinct operations: soil viability, seasonal crop plans, nutrient and pesticide applications, labour allocation, and market sales.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977133"/>
            <a:ext cx="514350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Without an integrated relational system, records remain fragmented in disparate logs. This DBMS reconciles variable cultivation costs against final market yields to empower data-driven agronomy.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319783"/>
            <a:ext cx="2609850" cy="2857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850" y="2319783"/>
            <a:ext cx="2609850" cy="2857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319783"/>
            <a:ext cx="2609850" cy="2857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0" y="2319783"/>
            <a:ext cx="2609850" cy="2857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2605533"/>
            <a:ext cx="514350" cy="514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0575" y="3291333"/>
            <a:ext cx="1850231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B4332"/>
                </a:solidFill>
                <a:latin typeface="Space Grotesk"/>
              </a:rPr>
              <a:t>Farm Administrator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575" y="3634233"/>
            <a:ext cx="20955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Configures system parameters, provisions user credentials, registers new farm plots, defines season dates, and manages inventory categories.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025" y="2605533"/>
            <a:ext cx="514350" cy="514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29025" y="3291333"/>
            <a:ext cx="206025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B4332"/>
                </a:solidFill>
                <a:latin typeface="Space Grotesk"/>
              </a:rPr>
              <a:t>Agronomist &amp; 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9025" y="3634233"/>
            <a:ext cx="20955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Records soil chemical analyses, schedules crop plans, specifies recommended input rates, plans irrigation cycles, and assesses yield health.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475" y="2605533"/>
            <a:ext cx="514350" cy="514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67475" y="3291333"/>
            <a:ext cx="154019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B4332"/>
                </a:solidFill>
                <a:latin typeface="Space Grotesk"/>
              </a:rPr>
              <a:t>Field Supervisor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3634233"/>
            <a:ext cx="209550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Logs daily application events, records irrigation water volume, enters worker labour hours and wages, and inputs raw harvest weights.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5925" y="2605533"/>
            <a:ext cx="514350" cy="514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05925" y="3291333"/>
            <a:ext cx="22002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B4332"/>
                </a:solidFill>
                <a:latin typeface="Space Grotesk"/>
              </a:rPr>
              <a:t>Sales &amp; Finance Officer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5925" y="3634233"/>
            <a:ext cx="209550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Manages commercial buyer profiles, generates sales invoices, monitors inventory dispatch, and audits field expenditure versus revenue.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75" y="2748408"/>
            <a:ext cx="285750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1900" y="2748408"/>
            <a:ext cx="22860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2748408"/>
            <a:ext cx="285750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48800" y="2748408"/>
            <a:ext cx="22860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5800" y="457200"/>
            <a:ext cx="11506200" cy="372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B4332"/>
                </a:solidFill>
                <a:latin typeface="Space Grotesk"/>
              </a:rPr>
              <a:t>User Roles &amp; Access Control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457200"/>
            <a:ext cx="47625" cy="372367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793527"/>
            <a:ext cx="5410200" cy="39100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793527"/>
            <a:ext cx="5410200" cy="39100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8675" y="2088802"/>
            <a:ext cx="506063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B4332"/>
                </a:solidFill>
                <a:latin typeface="Space Grotesk"/>
              </a:rPr>
              <a:t>Land, Crop &amp; Planning Entities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8675" y="2450752"/>
            <a:ext cx="48196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43675" y="2088802"/>
            <a:ext cx="506063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B4332"/>
                </a:solidFill>
                <a:latin typeface="Space Grotesk"/>
              </a:rPr>
              <a:t>Operations, Yield &amp; Sales Entities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43675" y="2450752"/>
            <a:ext cx="48196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7275" y="2622202"/>
            <a:ext cx="459105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Farm &amp; Field: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Represents spatial boundaries, total arable acreage, and geographic coordinates.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179415"/>
            <a:ext cx="459105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Season: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Temporal framework bounded by strict operational start and end calendar dates.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3736627"/>
            <a:ext cx="459105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Crop &amp; Variety: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Botanical classification, growth stages, days to maturity, and seed attributes.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4293840"/>
            <a:ext cx="459105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Soil Test: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Historical records of N-P-K levels, pH balance, and organic content per field.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4851052"/>
            <a:ext cx="459105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Crop Plan: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Associative entity scheduling a specific variety onto a field for a planned season.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2275" y="2622202"/>
            <a:ext cx="459105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Input &amp; Application: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Fertilizers and chemicals mapped to field applications and dosage.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2275" y="3179415"/>
            <a:ext cx="459105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Irrigation Event: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Source, pump duration, and calculated water volume (m³) per plot.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275" y="3736627"/>
            <a:ext cx="459105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Labour Activity: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Operation classification (weeding, pruning), hours logged, and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2275" y="4293840"/>
            <a:ext cx="459105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Harvest Record: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Yield batch grading, total weight (kg), and storage location.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2275" y="4851052"/>
            <a:ext cx="459105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Buyer &amp; Sales Transaction: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Commercial entity dispatch records and realised price per unit.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2584102"/>
            <a:ext cx="1143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sz="1650" b="0" i="0" u="none">
                <a:solidFill>
                  <a:srgbClr val="2D6A4F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75" y="3141315"/>
            <a:ext cx="1143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sz="1650" b="0" i="0" u="none">
                <a:solidFill>
                  <a:srgbClr val="2D6A4F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775" y="3698527"/>
            <a:ext cx="1143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sz="1650" b="0" i="0" u="none">
                <a:solidFill>
                  <a:srgbClr val="2D6A4F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775" y="4255740"/>
            <a:ext cx="1143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sz="1650" b="0" i="0" u="none">
                <a:solidFill>
                  <a:srgbClr val="2D6A4F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775" y="4812952"/>
            <a:ext cx="1143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sz="1650" b="0" i="0" u="none">
                <a:solidFill>
                  <a:srgbClr val="2D6A4F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1775" y="2584102"/>
            <a:ext cx="1143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sz="1650" b="0" i="0" u="none">
                <a:solidFill>
                  <a:srgbClr val="2D6A4F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1775" y="3141315"/>
            <a:ext cx="1143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sz="1650" b="0" i="0" u="none">
                <a:solidFill>
                  <a:srgbClr val="2D6A4F"/>
                </a:solidFill>
                <a:latin typeface="Plus Jakarta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1775" y="3698527"/>
            <a:ext cx="1143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sz="1650" b="0" i="0" u="none">
                <a:solidFill>
                  <a:srgbClr val="2D6A4F"/>
                </a:solidFill>
                <a:latin typeface="Plus Jakarta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1775" y="4255740"/>
            <a:ext cx="1143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sz="1650" b="0" i="0" u="none">
                <a:solidFill>
                  <a:srgbClr val="2D6A4F"/>
                </a:solidFill>
                <a:latin typeface="Plus Jakarta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1775" y="4812952"/>
            <a:ext cx="1143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sz="1650" b="0" i="0" u="none">
                <a:solidFill>
                  <a:srgbClr val="2D6A4F"/>
                </a:solidFill>
                <a:latin typeface="Plus Jakarta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57200"/>
            <a:ext cx="11506200" cy="372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B4332"/>
                </a:solidFill>
                <a:latin typeface="Space Grotesk"/>
              </a:rPr>
              <a:t>Conceptual Schema &amp; Entities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3400" y="457200"/>
            <a:ext cx="47625" cy="372367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938783"/>
            <a:ext cx="54102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938783"/>
            <a:ext cx="518160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Soil health metrics directly govern prescriptive input recommendations across all registered field zones.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495996"/>
            <a:ext cx="5181600" cy="461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Each Soil_Test record enforces non-null parameters for nitrogen, phosphorus, potassium, and pH (3.5 to 9.5 range).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072258"/>
            <a:ext cx="5181600" cy="461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Historical test records are linked via foreign keys to the Field entity, preventing orphaned soil reports.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648521"/>
            <a:ext cx="518160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Application algorithms cross-reference soil test thresholds to flag chemical over-application before execution.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1948308"/>
            <a:ext cx="5391150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1900683"/>
            <a:ext cx="1143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sz="1650" b="0" i="0" u="none">
                <a:solidFill>
                  <a:srgbClr val="2D6A4F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457896"/>
            <a:ext cx="1143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sz="1650" b="0" i="0" u="none">
                <a:solidFill>
                  <a:srgbClr val="2D6A4F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034158"/>
            <a:ext cx="1143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sz="1650" b="0" i="0" u="none">
                <a:solidFill>
                  <a:srgbClr val="2D6A4F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610421"/>
            <a:ext cx="1143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sz="1650" b="0" i="0" u="none">
                <a:solidFill>
                  <a:srgbClr val="2D6A4F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7200"/>
            <a:ext cx="11506200" cy="372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B4332"/>
                </a:solidFill>
                <a:latin typeface="Space Grotesk"/>
              </a:rPr>
              <a:t>Agronomic Integrity &amp; Soil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457200"/>
            <a:ext cx="47625" cy="372367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2286000"/>
            <a:ext cx="4667250" cy="1357758"/>
          </a:xfrm>
          <a:prstGeom prst="roundRect">
            <a:avLst>
              <a:gd name="adj" fmla="val 84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24050" y="2476500"/>
            <a:ext cx="3886200" cy="9767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1B4332"/>
                </a:solidFill>
                <a:latin typeface="Plus Jakarta Sans"/>
              </a:rPr>
              <a:t>Temporal Bounding Constraints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Crop planting and harvest dates must strictly fall within the parent season's valid start_date and end_date window.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1250" y="2286000"/>
            <a:ext cx="4667250" cy="1357758"/>
          </a:xfrm>
          <a:prstGeom prst="roundRect">
            <a:avLst>
              <a:gd name="adj" fmla="val 84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81800" y="2476500"/>
            <a:ext cx="3886200" cy="9767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1B4332"/>
                </a:solidFill>
                <a:latin typeface="Plus Jakarta Sans"/>
              </a:rPr>
              <a:t>Positive Quantity Assertions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CHECK (quantity &gt; 0) enforced on all inputs applied, irrigation water volume, and daily work hours recorded.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3834258"/>
            <a:ext cx="4667250" cy="1376808"/>
          </a:xfrm>
          <a:prstGeom prst="roundRect">
            <a:avLst>
              <a:gd name="adj" fmla="val 83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4050" y="4024758"/>
            <a:ext cx="3886200" cy="995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1B4332"/>
                </a:solidFill>
                <a:latin typeface="Plus Jakarta Sans"/>
              </a:rPr>
              <a:t>Non-Negative Harvest Bounds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Harvest yields must be non-negative: CHECK (yield_quantity &gt;= 0) and cannot precede the actual planting 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1250" y="3834258"/>
            <a:ext cx="4667250" cy="1376808"/>
          </a:xfrm>
          <a:prstGeom prst="roundRect">
            <a:avLst>
              <a:gd name="adj" fmla="val 83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81800" y="4024758"/>
            <a:ext cx="3886200" cy="995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1" i="0" u="none">
                <a:solidFill>
                  <a:srgbClr val="1B4332"/>
                </a:solidFill>
                <a:latin typeface="Plus Jakarta Sans"/>
              </a:rPr>
              <a:t>Inventory Stock Validations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Sales transactions cannot exceed available in-stock produce: sold_qty &lt;= (total_harvested - previously_sold).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3634233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1250" y="3634233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33500" y="5201542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1250" y="5201542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425" y="2481262"/>
            <a:ext cx="1524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481262"/>
            <a:ext cx="219075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5425" y="4029521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175" y="4029521"/>
            <a:ext cx="219075" cy="1809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800" y="457200"/>
            <a:ext cx="11506200" cy="372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B4332"/>
                </a:solidFill>
                <a:latin typeface="Space Grotesk"/>
              </a:rPr>
              <a:t>Integrity Constraints &amp; Rules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457200"/>
            <a:ext cx="47625" cy="372367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73919"/>
            <a:ext cx="11125200" cy="3349228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2925" y="2083444"/>
          <a:ext cx="11106148" cy="3330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0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44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03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Table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Primary Key (PK)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Foreign Keys (FK)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3NF Elimination Strategy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03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Crop_Plan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plan_id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field_id, variety_id, season_id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Separated variety details from plans to eliminate partial functional dependencies.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03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Input_Application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application_id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plan_id, input_id, supervisor_id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Removed supplier details and unit pricing; placed in decoupled Farm_Input entity.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03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Labour_Log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log_id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plan_id, worker_id, activity_id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Decomposed worker daily rates from field logs to remove transitive wage dependencies.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038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Sale_Item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sale_item_id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sale_id, harvest_id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Decoupled customer billing and tax from individual batch produce line items.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2925" y="3267819"/>
            <a:ext cx="17204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3378" y="3267819"/>
            <a:ext cx="14975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760886" y="3267819"/>
            <a:ext cx="2463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24587" y="3267819"/>
            <a:ext cx="5424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2925" y="3978324"/>
            <a:ext cx="17204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63378" y="3978324"/>
            <a:ext cx="14975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60886" y="3978324"/>
            <a:ext cx="2463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24587" y="3978324"/>
            <a:ext cx="5424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2925" y="4688830"/>
            <a:ext cx="17204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63378" y="4688830"/>
            <a:ext cx="14975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760886" y="4688830"/>
            <a:ext cx="2463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24587" y="4688830"/>
            <a:ext cx="5424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2925" y="5399335"/>
            <a:ext cx="17204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63378" y="5399335"/>
            <a:ext cx="14975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760886" y="5399335"/>
            <a:ext cx="2463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24587" y="5399335"/>
            <a:ext cx="5424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57200"/>
            <a:ext cx="11506200" cy="372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B4332"/>
                </a:solidFill>
                <a:latin typeface="Space Grotesk"/>
              </a:rPr>
              <a:t>Relational Schema Normalization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457200"/>
            <a:ext cx="47625" cy="372367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848421"/>
            <a:ext cx="5372100" cy="1800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5825" y="3200846"/>
            <a:ext cx="46672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850"/>
              </a:lnSpc>
            </a:pPr>
            <a:r>
              <a:rPr sz="5850" b="1" i="0" u="none">
                <a:solidFill>
                  <a:srgbClr val="2D6A4F"/>
                </a:solidFill>
                <a:latin typeface="Space Grotesk"/>
              </a:rPr>
              <a:t>3NF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825" y="4058096"/>
            <a:ext cx="4667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B4332"/>
                </a:solidFill>
                <a:latin typeface="Plus Jakarta Sans"/>
              </a:rPr>
              <a:t>Strict Normalization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867471"/>
            <a:ext cx="5640705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B4332"/>
                </a:solidFill>
                <a:latin typeface="Space Grotesk"/>
              </a:rPr>
              <a:t>ACID Compliance &amp; Indexing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296096"/>
            <a:ext cx="53721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Implemented on PostgreSQL and MySQL InnoDB to guarantee atomicity during multi-table sales and stock inventory adjustments.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901826"/>
            <a:ext cx="5372100" cy="727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B-Tree composite indexes applied on (plan_id, application_date) and (harvest_id, sale_date) to accelerate join queries and analytical reporting pipelines.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7200"/>
            <a:ext cx="11506200" cy="372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B4332"/>
                </a:solidFill>
                <a:latin typeface="Space Grotesk"/>
              </a:rPr>
              <a:t>System Architecture Metrics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457200"/>
            <a:ext cx="47625" cy="372367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5240655" cy="372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B4332"/>
                </a:solidFill>
                <a:latin typeface="Space Grotesk"/>
              </a:rPr>
              <a:t>Harvest &amp; Sales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57200"/>
            <a:ext cx="47625" cy="372367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2658963"/>
            <a:ext cx="540067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B4332"/>
                </a:solidFill>
                <a:latin typeface="Space Grotesk"/>
              </a:rPr>
              <a:t>Traceable Batch Fulfillment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3116163"/>
            <a:ext cx="514350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Each harvested batch is catalogued by quality grade, moisture percentage, and storage silo. This provides complete provenance from specific field plots to commercial buyers.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977133"/>
            <a:ext cx="514350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Sales workflows dynamically decrement real-time stock levels, ensuring zero overselling while automatically computing net profitability per crop variety.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096267"/>
            <a:ext cx="11125200" cy="53045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52537" y="4676030"/>
            <a:ext cx="9686925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sz="1125" b="0" i="1" u="none">
                <a:solidFill>
                  <a:srgbClr val="475569"/>
                </a:solidFill>
                <a:latin typeface="Plus Jakarta Sans"/>
              </a:rPr>
              <a:t>SQL analytical views aggregate fertilizer inputs, irrigation utility bills, and labor hours against gross sales to surface net crop margin per hectare.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1506200" cy="372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B4332"/>
                </a:solidFill>
                <a:latin typeface="Space Grotesk"/>
              </a:rPr>
              <a:t>Crop Margin &amp; Cost vs. Yield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457200"/>
            <a:ext cx="47625" cy="372367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986658"/>
            <a:ext cx="2558653" cy="11102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8816" y="2400151"/>
            <a:ext cx="2558653" cy="11102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232" y="3986658"/>
            <a:ext cx="2558653" cy="11102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9649" y="2400151"/>
            <a:ext cx="2558653" cy="111025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3400" y="3729483"/>
            <a:ext cx="111252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9454" y="4148583"/>
            <a:ext cx="2346543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1B4332"/>
                </a:solidFill>
                <a:latin typeface="Space Grotesk"/>
              </a:rPr>
              <a:t>1. Schema &amp; ERD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4415283"/>
            <a:ext cx="2234803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Entity identification, Crow's Foot ER modeling, and conversion into 3NF normalized tables.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4871" y="2562076"/>
            <a:ext cx="2346543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1B4332"/>
                </a:solidFill>
                <a:latin typeface="Space Grotesk"/>
              </a:rPr>
              <a:t>2. DDL &amp;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0741" y="2828776"/>
            <a:ext cx="2234803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Database table creation with foreign keys, CHECK triggers, and sample data population.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287" y="4148583"/>
            <a:ext cx="2346543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1B4332"/>
                </a:solidFill>
                <a:latin typeface="Space Grotesk"/>
              </a:rPr>
              <a:t>3. Front-End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6157" y="4415283"/>
            <a:ext cx="2234803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Development of Python/Java data entry forms for soil tests, plans, and harvest logs.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5704" y="2562076"/>
            <a:ext cx="2346543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1B4332"/>
                </a:solidFill>
                <a:latin typeface="Space Grotesk"/>
              </a:rPr>
              <a:t>4. Views &amp; Audits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1574" y="2828776"/>
            <a:ext cx="2234803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Complex reporting views, cost-yield analytics, transaction audits, and query optimization.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"/>
            <a:ext cx="11506200" cy="372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B4332"/>
                </a:solidFill>
                <a:latin typeface="Space Grotesk"/>
              </a:rPr>
              <a:t>Implementation Milestones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457200"/>
            <a:ext cx="47625" cy="372367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07951" y="3643758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63367" y="3643758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18784" y="3643758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74200" y="3643758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25553" y="2305050"/>
            <a:ext cx="7140892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1B4332"/>
                </a:solidFill>
                <a:latin typeface="Space Grotesk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375" y="3257550"/>
            <a:ext cx="61912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A demonstration of relational modeling, business integrity rules, and database-backed decision making for modern agronomic systems.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325" y="4229100"/>
            <a:ext cx="1514475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00" y="4229100"/>
            <a:ext cx="1495425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1825" y="4229100"/>
            <a:ext cx="1466850" cy="323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4775" y="4333875"/>
            <a:ext cx="11430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3550" y="4333875"/>
            <a:ext cx="13335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3275" y="4333875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71687" y="2596008"/>
            <a:ext cx="80486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71687" y="3367533"/>
            <a:ext cx="80486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71687" y="3358008"/>
            <a:ext cx="8048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71687" y="3358008"/>
            <a:ext cx="8048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71687" y="4129533"/>
            <a:ext cx="8048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071687" y="4129533"/>
            <a:ext cx="8048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687" y="2738883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67062" y="2739181"/>
            <a:ext cx="695325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https://www.farmerp.com/wp-content/uploads/2025/12/Blog_Images_Farm_ERP-01-1024x536.jpg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7062" y="2978646"/>
            <a:ext cx="695325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www.farmerp.com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1687" y="3510408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67062" y="3510706"/>
            <a:ext cx="695325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https://landresources.montana.edu/soilfertility/images/SoilTestKit.jpg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7062" y="3750171"/>
            <a:ext cx="695325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landresources.montana.edu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1687" y="4281933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167062" y="4282231"/>
            <a:ext cx="695325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https://fruitgrowers.com/wp-content/uploads/2019/05/assorted-fruits-on-brown-wooden-racks-1-1000x750.jpg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7062" y="4521696"/>
            <a:ext cx="695325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fruitgrowers.com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"/>
            <a:ext cx="11506200" cy="372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B4332"/>
                </a:solidFill>
                <a:latin typeface="Space Grotesk"/>
              </a:rPr>
              <a:t>Image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400" y="457200"/>
            <a:ext cx="47625" cy="372367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1031</Words>
  <Application>Microsoft Office PowerPoint</Application>
  <PresentationFormat>Widescreen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Plus Jakarta Sans</vt:lpstr>
      <vt:lpstr>Plus Jakarta Sans Medium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Mohammed Ismail</dc:creator>
  <cp:keywords/>
  <dc:description>generated using python-pptx</dc:description>
  <cp:lastModifiedBy>Mohammed Ismail</cp:lastModifiedBy>
  <cp:revision>1</cp:revision>
  <dcterms:created xsi:type="dcterms:W3CDTF">2013-01-27T09:14:16Z</dcterms:created>
  <dcterms:modified xsi:type="dcterms:W3CDTF">2026-10-07T09:04:27Z</dcterms:modified>
  <cp:category/>
</cp:coreProperties>
</file>